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98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49"/>
  </p:normalViewPr>
  <p:slideViewPr>
    <p:cSldViewPr snapToGrid="0">
      <p:cViewPr varScale="1">
        <p:scale>
          <a:sx n="92" d="100"/>
          <a:sy n="92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309FB6-BABC-8FD3-80DA-750C4C7A3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8" y="2480153"/>
            <a:ext cx="7766936" cy="1502255"/>
          </a:xfrm>
        </p:spPr>
        <p:txBody>
          <a:bodyPr/>
          <a:lstStyle/>
          <a:p>
            <a:pPr algn="l"/>
            <a:r>
              <a:rPr lang="it-IT" dirty="0"/>
              <a:t>Cifar-10 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CE7DF62-3046-C93A-A63F-3A28E2A63F38}"/>
              </a:ext>
            </a:extLst>
          </p:cNvPr>
          <p:cNvSpPr txBox="1"/>
          <p:nvPr/>
        </p:nvSpPr>
        <p:spPr>
          <a:xfrm>
            <a:off x="1507068" y="6062597"/>
            <a:ext cx="3064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>
                <a:solidFill>
                  <a:schemeClr val="bg1">
                    <a:lumMod val="50000"/>
                  </a:schemeClr>
                </a:solidFill>
              </a:rPr>
              <a:t>Francesco Maniscalco</a:t>
            </a:r>
          </a:p>
          <a:p>
            <a:r>
              <a:rPr lang="it-IT" i="1" dirty="0">
                <a:solidFill>
                  <a:schemeClr val="bg1">
                    <a:lumMod val="50000"/>
                  </a:schemeClr>
                </a:solidFill>
              </a:rPr>
              <a:t>Matricola: 1000058373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63E8601-9EA3-4857-0136-DD59C8DC03CD}"/>
              </a:ext>
            </a:extLst>
          </p:cNvPr>
          <p:cNvSpPr txBox="1"/>
          <p:nvPr/>
        </p:nvSpPr>
        <p:spPr>
          <a:xfrm>
            <a:off x="1628384" y="4070959"/>
            <a:ext cx="4647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699843"/>
                </a:solidFill>
              </a:rPr>
              <a:t>Machine Learning – 2024/25 - Homework 2</a:t>
            </a:r>
          </a:p>
        </p:txBody>
      </p:sp>
    </p:spTree>
    <p:extLst>
      <p:ext uri="{BB962C8B-B14F-4D97-AF65-F5344CB8AC3E}">
        <p14:creationId xmlns:p14="http://schemas.microsoft.com/office/powerpoint/2010/main" val="2380178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9F47E-A430-CE32-655C-E4D153058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Descrizione del 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081F77-7F71-C341-D606-35AA5D7DB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9934"/>
            <a:ext cx="8596668" cy="4698466"/>
          </a:xfrm>
        </p:spPr>
        <p:txBody>
          <a:bodyPr>
            <a:normAutofit/>
          </a:bodyPr>
          <a:lstStyle/>
          <a:p>
            <a:pPr algn="just"/>
            <a:r>
              <a:rPr lang="it-IT" dirty="0">
                <a:solidFill>
                  <a:schemeClr val="tx1"/>
                </a:solidFill>
              </a:rPr>
              <a:t>Il </a:t>
            </a:r>
            <a:r>
              <a:rPr lang="it-IT" b="1" dirty="0">
                <a:solidFill>
                  <a:schemeClr val="tx1"/>
                </a:solidFill>
              </a:rPr>
              <a:t>dataset CIFAR-10:</a:t>
            </a:r>
          </a:p>
          <a:p>
            <a:pPr lvl="1" algn="just"/>
            <a:r>
              <a:rPr lang="it-IT" b="1" dirty="0">
                <a:solidFill>
                  <a:schemeClr val="tx1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60.000 immagini a colori (32×32 pixel), suddivise in </a:t>
            </a:r>
            <a:r>
              <a:rPr lang="it-IT" b="1" dirty="0">
                <a:solidFill>
                  <a:schemeClr val="tx1"/>
                </a:solidFill>
              </a:rPr>
              <a:t>10 classi</a:t>
            </a:r>
            <a:r>
              <a:rPr lang="it-IT" dirty="0">
                <a:solidFill>
                  <a:schemeClr val="tx1"/>
                </a:solidFill>
              </a:rPr>
              <a:t>, 6.000 immagini per classe.</a:t>
            </a:r>
          </a:p>
          <a:p>
            <a:pPr algn="just"/>
            <a:r>
              <a:rPr lang="it-IT" b="1" dirty="0">
                <a:solidFill>
                  <a:schemeClr val="tx1"/>
                </a:solidFill>
              </a:rPr>
              <a:t>Suddivisione</a:t>
            </a:r>
            <a:r>
              <a:rPr lang="it-IT" dirty="0">
                <a:solidFill>
                  <a:schemeClr val="tx1"/>
                </a:solidFill>
              </a:rPr>
              <a:t>:</a:t>
            </a:r>
          </a:p>
          <a:p>
            <a:pPr lvl="1" algn="just"/>
            <a:r>
              <a:rPr lang="it-IT" b="1" dirty="0">
                <a:solidFill>
                  <a:schemeClr val="tx1"/>
                </a:solidFill>
              </a:rPr>
              <a:t>Training</a:t>
            </a:r>
            <a:r>
              <a:rPr lang="it-IT" dirty="0">
                <a:solidFill>
                  <a:schemeClr val="tx1"/>
                </a:solidFill>
              </a:rPr>
              <a:t>: 50.000 immagini, suddivise in </a:t>
            </a:r>
            <a:r>
              <a:rPr lang="it-IT" b="1" dirty="0">
                <a:solidFill>
                  <a:schemeClr val="tx1"/>
                </a:solidFill>
              </a:rPr>
              <a:t>5 batch</a:t>
            </a:r>
            <a:r>
              <a:rPr lang="it-IT" dirty="0">
                <a:solidFill>
                  <a:schemeClr val="tx1"/>
                </a:solidFill>
              </a:rPr>
              <a:t> da 10.000 immagini ciascuno.</a:t>
            </a:r>
          </a:p>
          <a:p>
            <a:pPr lvl="1" algn="just"/>
            <a:r>
              <a:rPr lang="it-IT" b="1" dirty="0">
                <a:solidFill>
                  <a:schemeClr val="tx1"/>
                </a:solidFill>
              </a:rPr>
              <a:t>Test</a:t>
            </a:r>
            <a:r>
              <a:rPr lang="it-IT" dirty="0">
                <a:solidFill>
                  <a:schemeClr val="tx1"/>
                </a:solidFill>
              </a:rPr>
              <a:t>: 10.000 immagini, in </a:t>
            </a:r>
            <a:r>
              <a:rPr lang="it-IT" b="1" dirty="0">
                <a:solidFill>
                  <a:schemeClr val="tx1"/>
                </a:solidFill>
              </a:rPr>
              <a:t>1 batch</a:t>
            </a:r>
            <a:r>
              <a:rPr lang="it-IT" dirty="0">
                <a:solidFill>
                  <a:schemeClr val="tx1"/>
                </a:solidFill>
              </a:rPr>
              <a:t>, con </a:t>
            </a:r>
            <a:r>
              <a:rPr lang="it-IT" b="1" dirty="0">
                <a:solidFill>
                  <a:schemeClr val="tx1"/>
                </a:solidFill>
              </a:rPr>
              <a:t>1.000 immagini per classe</a:t>
            </a:r>
            <a:r>
              <a:rPr lang="it-IT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it-IT" b="1" dirty="0">
                <a:solidFill>
                  <a:schemeClr val="tx1"/>
                </a:solidFill>
              </a:rPr>
              <a:t>Distribuzione</a:t>
            </a:r>
            <a:r>
              <a:rPr lang="it-IT" dirty="0">
                <a:solidFill>
                  <a:schemeClr val="tx1"/>
                </a:solidFill>
              </a:rPr>
              <a:t>: </a:t>
            </a:r>
          </a:p>
          <a:p>
            <a:pPr lvl="1" algn="just"/>
            <a:r>
              <a:rPr lang="it-IT" dirty="0">
                <a:solidFill>
                  <a:schemeClr val="tx1"/>
                </a:solidFill>
              </a:rPr>
              <a:t>Le immagini sono distribuite </a:t>
            </a:r>
            <a:r>
              <a:rPr lang="it-IT" b="1" dirty="0">
                <a:solidFill>
                  <a:schemeClr val="tx1"/>
                </a:solidFill>
              </a:rPr>
              <a:t>in modo casuale</a:t>
            </a:r>
            <a:r>
              <a:rPr lang="it-IT" dirty="0">
                <a:solidFill>
                  <a:schemeClr val="tx1"/>
                </a:solidFill>
              </a:rPr>
              <a:t> all'interno di ogni batch.</a:t>
            </a:r>
          </a:p>
          <a:p>
            <a:pPr algn="just"/>
            <a:r>
              <a:rPr lang="it-IT" b="1" dirty="0">
                <a:solidFill>
                  <a:schemeClr val="tx1"/>
                </a:solidFill>
              </a:rPr>
              <a:t>Bilanciamento globale</a:t>
            </a:r>
            <a:r>
              <a:rPr lang="it-IT" dirty="0">
                <a:solidFill>
                  <a:schemeClr val="tx1"/>
                </a:solidFill>
              </a:rPr>
              <a:t>: </a:t>
            </a:r>
          </a:p>
          <a:p>
            <a:pPr lvl="1" algn="just"/>
            <a:r>
              <a:rPr lang="it-IT" dirty="0">
                <a:solidFill>
                  <a:schemeClr val="tx1"/>
                </a:solidFill>
              </a:rPr>
              <a:t>Ogni classe è rappresentata da </a:t>
            </a:r>
            <a:r>
              <a:rPr lang="it-IT" b="1" dirty="0">
                <a:solidFill>
                  <a:schemeClr val="tx1"/>
                </a:solidFill>
              </a:rPr>
              <a:t>5.000 immagini</a:t>
            </a:r>
            <a:r>
              <a:rPr lang="it-IT" dirty="0">
                <a:solidFill>
                  <a:schemeClr val="tx1"/>
                </a:solidFill>
              </a:rPr>
              <a:t> nel training set.</a:t>
            </a:r>
          </a:p>
          <a:p>
            <a:pPr algn="just"/>
            <a:r>
              <a:rPr lang="it-IT" b="1" dirty="0">
                <a:solidFill>
                  <a:schemeClr val="tx1"/>
                </a:solidFill>
              </a:rPr>
              <a:t>Criticità</a:t>
            </a:r>
            <a:r>
              <a:rPr lang="it-IT" dirty="0">
                <a:solidFill>
                  <a:schemeClr val="tx1"/>
                </a:solidFill>
              </a:rPr>
              <a:t>: </a:t>
            </a:r>
          </a:p>
          <a:p>
            <a:pPr lvl="1" algn="just"/>
            <a:r>
              <a:rPr lang="it-IT" dirty="0">
                <a:solidFill>
                  <a:schemeClr val="tx1"/>
                </a:solidFill>
              </a:rPr>
              <a:t>Alcuni batch di training possono contenere </a:t>
            </a:r>
            <a:r>
              <a:rPr lang="it-IT" b="1" dirty="0">
                <a:solidFill>
                  <a:schemeClr val="tx1"/>
                </a:solidFill>
              </a:rPr>
              <a:t>più immagini di alcune classi</a:t>
            </a:r>
            <a:r>
              <a:rPr lang="it-IT" dirty="0">
                <a:solidFill>
                  <a:schemeClr val="tx1"/>
                </a:solidFill>
              </a:rPr>
              <a:t> rispetto ad altre → rischio di </a:t>
            </a:r>
            <a:r>
              <a:rPr lang="it-IT" b="1" dirty="0">
                <a:solidFill>
                  <a:schemeClr val="tx1"/>
                </a:solidFill>
              </a:rPr>
              <a:t>sbilanciamento locale</a:t>
            </a:r>
            <a:r>
              <a:rPr lang="it-IT" dirty="0">
                <a:solidFill>
                  <a:schemeClr val="tx1"/>
                </a:solidFill>
              </a:rPr>
              <a:t> e </a:t>
            </a:r>
            <a:r>
              <a:rPr lang="it-IT" b="1" dirty="0" err="1">
                <a:solidFill>
                  <a:schemeClr val="tx1"/>
                </a:solidFill>
              </a:rPr>
              <a:t>bias</a:t>
            </a:r>
            <a:r>
              <a:rPr lang="it-IT" b="1" dirty="0">
                <a:solidFill>
                  <a:schemeClr val="tx1"/>
                </a:solidFill>
              </a:rPr>
              <a:t> durante l’addestramento</a:t>
            </a:r>
            <a:r>
              <a:rPr lang="it-IT" dirty="0">
                <a:solidFill>
                  <a:schemeClr val="tx1"/>
                </a:solidFill>
              </a:rPr>
              <a:t>.</a:t>
            </a:r>
          </a:p>
          <a:p>
            <a:pPr lvl="1" algn="just"/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4472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C35F1F-4256-829C-7495-1A08EDF5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 labels</a:t>
            </a:r>
          </a:p>
        </p:txBody>
      </p:sp>
      <p:pic>
        <p:nvPicPr>
          <p:cNvPr id="1026" name="Picture 2" descr="CIFAR-10 Dataset | Papers With Code">
            <a:extLst>
              <a:ext uri="{FF2B5EF4-FFF2-40B4-BE49-F238E27FC236}">
                <a16:creationId xmlns:a16="http://schemas.microsoft.com/office/drawing/2014/main" id="{90D8C26E-636F-C00D-385F-17A82788AA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766" y="1930400"/>
            <a:ext cx="5139804" cy="3966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78AF57B-A8B0-B0B7-9EDB-D5536DD75FA4}"/>
              </a:ext>
            </a:extLst>
          </p:cNvPr>
          <p:cNvSpPr txBox="1"/>
          <p:nvPr/>
        </p:nvSpPr>
        <p:spPr>
          <a:xfrm>
            <a:off x="4096011" y="5896408"/>
            <a:ext cx="34495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i="1" dirty="0"/>
              <a:t>10 immagini randomiche per ogni classe</a:t>
            </a:r>
          </a:p>
        </p:txBody>
      </p:sp>
    </p:spTree>
    <p:extLst>
      <p:ext uri="{BB962C8B-B14F-4D97-AF65-F5344CB8AC3E}">
        <p14:creationId xmlns:p14="http://schemas.microsoft.com/office/powerpoint/2010/main" val="2739401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DB7C0F-53C9-40E6-7E0C-F6C452AC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Metodologie adottate </a:t>
            </a:r>
            <a:br>
              <a:rPr lang="it-IT" dirty="0"/>
            </a:br>
            <a:r>
              <a:rPr lang="it-IT" dirty="0"/>
              <a:t>caricamento 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C37FFF8-E2E5-F85B-D023-C8033E462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670816"/>
          </a:xfrm>
        </p:spPr>
        <p:txBody>
          <a:bodyPr>
            <a:normAutofit/>
          </a:bodyPr>
          <a:lstStyle/>
          <a:p>
            <a:pPr algn="just"/>
            <a:r>
              <a:rPr lang="it-IT" dirty="0">
                <a:solidFill>
                  <a:schemeClr val="tx1"/>
                </a:solidFill>
              </a:rPr>
              <a:t>Caricamento dei singoli batch attraverso la funzione </a:t>
            </a:r>
            <a:r>
              <a:rPr lang="it-IT" dirty="0">
                <a:solidFill>
                  <a:schemeClr val="tx1"/>
                </a:solidFill>
                <a:effectLst/>
              </a:rPr>
              <a:t>load_cifar10_batch</a:t>
            </a:r>
            <a:r>
              <a:rPr lang="it-IT" dirty="0">
                <a:solidFill>
                  <a:schemeClr val="tx1"/>
                </a:solidFill>
              </a:rPr>
              <a:t>:</a:t>
            </a:r>
          </a:p>
          <a:p>
            <a:pPr lvl="1" algn="just"/>
            <a:r>
              <a:rPr lang="it-IT" dirty="0">
                <a:solidFill>
                  <a:schemeClr val="tx1"/>
                </a:solidFill>
              </a:rPr>
              <a:t>Accetta in ingresso il path di ogni batch da caricare</a:t>
            </a:r>
          </a:p>
          <a:p>
            <a:pPr lvl="1" algn="just"/>
            <a:r>
              <a:rPr lang="it-IT" dirty="0">
                <a:solidFill>
                  <a:schemeClr val="tx1"/>
                </a:solidFill>
              </a:rPr>
              <a:t>Usa pickle.load() per caricare il batch riferito al path di ingresso</a:t>
            </a:r>
          </a:p>
          <a:p>
            <a:pPr lvl="1" algn="just"/>
            <a:r>
              <a:rPr lang="it-IT" dirty="0">
                <a:solidFill>
                  <a:schemeClr val="tx1"/>
                </a:solidFill>
              </a:rPr>
              <a:t>Dal singolo batch ricaviamo gli input (X) e gli output (y) e li restituiamo</a:t>
            </a:r>
          </a:p>
          <a:p>
            <a:pPr algn="just"/>
            <a:r>
              <a:rPr lang="it-IT" dirty="0">
                <a:solidFill>
                  <a:schemeClr val="tx1"/>
                </a:solidFill>
              </a:rPr>
              <a:t>Ripetiamo l’operazione per tutti i batch caricando i dati nelle liste </a:t>
            </a:r>
            <a:br>
              <a:rPr lang="it-IT" dirty="0">
                <a:solidFill>
                  <a:schemeClr val="tx1"/>
                </a:solidFill>
              </a:rPr>
            </a:br>
            <a:r>
              <a:rPr lang="it-IT" dirty="0">
                <a:solidFill>
                  <a:schemeClr val="tx1"/>
                </a:solidFill>
              </a:rPr>
              <a:t>X_train e y_train</a:t>
            </a:r>
          </a:p>
          <a:p>
            <a:pPr lvl="1" algn="just"/>
            <a:r>
              <a:rPr lang="it-IT" dirty="0">
                <a:solidFill>
                  <a:schemeClr val="tx1"/>
                </a:solidFill>
              </a:rPr>
              <a:t>Successivamente attraverso le funzioni vstack() e hstack() creiamo l’effettivo dataset. </a:t>
            </a:r>
          </a:p>
          <a:p>
            <a:pPr algn="just"/>
            <a:r>
              <a:rPr lang="it-IT" dirty="0">
                <a:solidFill>
                  <a:schemeClr val="tx1"/>
                </a:solidFill>
              </a:rPr>
              <a:t>Applico la stessa cosa per il test set. </a:t>
            </a:r>
          </a:p>
          <a:p>
            <a:pPr algn="just"/>
            <a:r>
              <a:rPr lang="it-IT" dirty="0">
                <a:solidFill>
                  <a:schemeClr val="tx1"/>
                </a:solidFill>
              </a:rPr>
              <a:t>Otteniamo così il dataset diviso in </a:t>
            </a:r>
            <a:r>
              <a:rPr lang="it-IT" dirty="0" err="1">
                <a:solidFill>
                  <a:schemeClr val="tx1"/>
                </a:solidFill>
              </a:rPr>
              <a:t>train</a:t>
            </a:r>
            <a:r>
              <a:rPr lang="it-IT" dirty="0">
                <a:solidFill>
                  <a:schemeClr val="tx1"/>
                </a:solidFill>
              </a:rPr>
              <a:t> e test, con dimensioni:</a:t>
            </a:r>
          </a:p>
          <a:p>
            <a:pPr lvl="1" algn="just"/>
            <a:r>
              <a:rPr lang="it-IT" dirty="0" err="1">
                <a:solidFill>
                  <a:schemeClr val="tx1"/>
                </a:solidFill>
              </a:rPr>
              <a:t>X_train</a:t>
            </a:r>
            <a:r>
              <a:rPr lang="it-IT" dirty="0">
                <a:solidFill>
                  <a:schemeClr val="tx1"/>
                </a:solidFill>
              </a:rPr>
              <a:t> (50000, 3072), y_train (50000, )</a:t>
            </a:r>
          </a:p>
          <a:p>
            <a:pPr lvl="1" algn="just"/>
            <a:r>
              <a:rPr lang="it-IT" dirty="0" err="1">
                <a:solidFill>
                  <a:schemeClr val="tx1"/>
                </a:solidFill>
              </a:rPr>
              <a:t>X_test</a:t>
            </a:r>
            <a:r>
              <a:rPr lang="it-IT" dirty="0">
                <a:solidFill>
                  <a:schemeClr val="tx1"/>
                </a:solidFill>
              </a:rPr>
              <a:t> (10000, 3072), </a:t>
            </a:r>
            <a:r>
              <a:rPr lang="it-IT" dirty="0" err="1">
                <a:solidFill>
                  <a:schemeClr val="tx1"/>
                </a:solidFill>
              </a:rPr>
              <a:t>y_test</a:t>
            </a:r>
            <a:r>
              <a:rPr lang="it-IT" dirty="0">
                <a:solidFill>
                  <a:schemeClr val="tx1"/>
                </a:solidFill>
              </a:rPr>
              <a:t> (10000, )</a:t>
            </a:r>
          </a:p>
        </p:txBody>
      </p:sp>
    </p:spTree>
    <p:extLst>
      <p:ext uri="{BB962C8B-B14F-4D97-AF65-F5344CB8AC3E}">
        <p14:creationId xmlns:p14="http://schemas.microsoft.com/office/powerpoint/2010/main" val="2687933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C3F9A3-7936-EBDE-C822-87F83765F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Metodologie adottate</a:t>
            </a:r>
            <a:br>
              <a:rPr lang="it-IT" dirty="0"/>
            </a:br>
            <a:r>
              <a:rPr lang="it-IT" dirty="0"/>
              <a:t>shuffle, riduzione e standardizzazione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33A87A-CAFB-7C4A-1F57-4A011DF95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730674"/>
            <a:ext cx="8596668" cy="3310688"/>
          </a:xfrm>
        </p:spPr>
        <p:txBody>
          <a:bodyPr/>
          <a:lstStyle/>
          <a:p>
            <a:pPr algn="just"/>
            <a:r>
              <a:rPr lang="it-IT" dirty="0">
                <a:solidFill>
                  <a:schemeClr val="tx1"/>
                </a:solidFill>
              </a:rPr>
              <a:t>Il set di </a:t>
            </a:r>
            <a:r>
              <a:rPr lang="it-IT" b="1" dirty="0" err="1">
                <a:solidFill>
                  <a:schemeClr val="tx1"/>
                </a:solidFill>
              </a:rPr>
              <a:t>train</a:t>
            </a:r>
            <a:r>
              <a:rPr lang="it-IT" dirty="0">
                <a:solidFill>
                  <a:schemeClr val="tx1"/>
                </a:solidFill>
              </a:rPr>
              <a:t> è stato </a:t>
            </a:r>
            <a:r>
              <a:rPr lang="it-IT" b="1" dirty="0">
                <a:solidFill>
                  <a:schemeClr val="tx1"/>
                </a:solidFill>
              </a:rPr>
              <a:t>riordinato con una permutazione casuale degli indici</a:t>
            </a:r>
            <a:r>
              <a:rPr lang="it-IT" dirty="0">
                <a:solidFill>
                  <a:schemeClr val="tx1"/>
                </a:solidFill>
              </a:rPr>
              <a:t>.</a:t>
            </a:r>
          </a:p>
          <a:p>
            <a:pPr lvl="1" algn="just"/>
            <a:r>
              <a:rPr lang="it-IT" dirty="0">
                <a:solidFill>
                  <a:schemeClr val="tx1"/>
                </a:solidFill>
              </a:rPr>
              <a:t>Ciò ha avuto un leggero impatto migliorativo in test set rispetto all’esecuzione fatta senza tale accortezza</a:t>
            </a:r>
          </a:p>
          <a:p>
            <a:pPr algn="just"/>
            <a:r>
              <a:rPr lang="it-IT" dirty="0">
                <a:solidFill>
                  <a:schemeClr val="tx1"/>
                </a:solidFill>
              </a:rPr>
              <a:t>Il set di </a:t>
            </a:r>
            <a:r>
              <a:rPr lang="it-IT" b="1" dirty="0" err="1">
                <a:solidFill>
                  <a:schemeClr val="tx1"/>
                </a:solidFill>
              </a:rPr>
              <a:t>train</a:t>
            </a:r>
            <a:r>
              <a:rPr lang="it-IT" dirty="0">
                <a:solidFill>
                  <a:schemeClr val="tx1"/>
                </a:solidFill>
              </a:rPr>
              <a:t> è stato ridotto da </a:t>
            </a:r>
            <a:r>
              <a:rPr lang="it-IT" b="1" dirty="0">
                <a:solidFill>
                  <a:schemeClr val="tx1"/>
                </a:solidFill>
              </a:rPr>
              <a:t>50.000 a 10.000 </a:t>
            </a:r>
            <a:r>
              <a:rPr lang="it-IT" dirty="0">
                <a:solidFill>
                  <a:schemeClr val="tx1"/>
                </a:solidFill>
              </a:rPr>
              <a:t>campioni per motivi pratici legati ai tempi di addestramento.</a:t>
            </a:r>
          </a:p>
          <a:p>
            <a:pPr algn="just"/>
            <a:r>
              <a:rPr lang="it-IT" dirty="0">
                <a:solidFill>
                  <a:schemeClr val="tx1"/>
                </a:solidFill>
              </a:rPr>
              <a:t>Il set di </a:t>
            </a:r>
            <a:r>
              <a:rPr lang="it-IT" b="1" dirty="0">
                <a:solidFill>
                  <a:schemeClr val="tx1"/>
                </a:solidFill>
              </a:rPr>
              <a:t>test</a:t>
            </a:r>
            <a:r>
              <a:rPr lang="it-IT" dirty="0">
                <a:solidFill>
                  <a:schemeClr val="tx1"/>
                </a:solidFill>
              </a:rPr>
              <a:t> è stato ridotto da </a:t>
            </a:r>
            <a:r>
              <a:rPr lang="it-IT" b="1" dirty="0">
                <a:solidFill>
                  <a:schemeClr val="tx1"/>
                </a:solidFill>
              </a:rPr>
              <a:t>10.000 a 2.000 </a:t>
            </a:r>
            <a:r>
              <a:rPr lang="it-IT" dirty="0">
                <a:solidFill>
                  <a:schemeClr val="tx1"/>
                </a:solidFill>
              </a:rPr>
              <a:t>campioni, mantenendo una proporzione del </a:t>
            </a:r>
            <a:r>
              <a:rPr lang="it-IT" b="1" dirty="0">
                <a:solidFill>
                  <a:schemeClr val="tx1"/>
                </a:solidFill>
              </a:rPr>
              <a:t>20% rispetto al test set originale</a:t>
            </a:r>
            <a:r>
              <a:rPr lang="it-IT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it-IT" dirty="0">
                <a:solidFill>
                  <a:schemeClr val="tx1"/>
                </a:solidFill>
              </a:rPr>
              <a:t>I dati ridotti sono stati </a:t>
            </a:r>
            <a:r>
              <a:rPr lang="it-IT" b="1" dirty="0">
                <a:solidFill>
                  <a:schemeClr val="tx1"/>
                </a:solidFill>
              </a:rPr>
              <a:t>standardizzati</a:t>
            </a:r>
            <a:r>
              <a:rPr lang="it-IT" dirty="0">
                <a:solidFill>
                  <a:schemeClr val="tx1"/>
                </a:solidFill>
              </a:rPr>
              <a:t> utilizzando lo </a:t>
            </a:r>
            <a:r>
              <a:rPr lang="it-IT" b="1" dirty="0" err="1">
                <a:solidFill>
                  <a:schemeClr val="tx1"/>
                </a:solidFill>
              </a:rPr>
              <a:t>StandardScaler</a:t>
            </a:r>
            <a:r>
              <a:rPr lang="it-IT" b="1" dirty="0">
                <a:solidFill>
                  <a:schemeClr val="tx1"/>
                </a:solidFill>
              </a:rPr>
              <a:t>()</a:t>
            </a:r>
            <a:r>
              <a:rPr lang="it-IT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4766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CFC3F7-9D51-FBC4-D51A-8DC6C0C3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Metodologie adottate</a:t>
            </a:r>
            <a:br>
              <a:rPr lang="it-IT" dirty="0"/>
            </a:br>
            <a:r>
              <a:rPr lang="it-IT" dirty="0"/>
              <a:t>funzione di allenamento modelli</a:t>
            </a:r>
            <a:br>
              <a:rPr lang="it-IT" dirty="0"/>
            </a:b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E47164-AA51-0EFF-1EAA-7A2070C18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solidFill>
                  <a:schemeClr val="tx1"/>
                </a:solidFill>
              </a:rPr>
              <a:t>Allenamento modelli attraverso la funzione train_modello():</a:t>
            </a:r>
          </a:p>
          <a:p>
            <a:pPr lvl="1"/>
            <a:r>
              <a:rPr lang="it-IT" dirty="0">
                <a:solidFill>
                  <a:schemeClr val="tx1"/>
                </a:solidFill>
              </a:rPr>
              <a:t>Accetta in ingresso: </a:t>
            </a:r>
          </a:p>
          <a:p>
            <a:pPr lvl="2"/>
            <a:r>
              <a:rPr lang="it-IT" dirty="0">
                <a:solidFill>
                  <a:schemeClr val="tx1"/>
                </a:solidFill>
              </a:rPr>
              <a:t>Il modello da allenare, i parametri per la </a:t>
            </a:r>
            <a:r>
              <a:rPr lang="it-IT" dirty="0" err="1">
                <a:solidFill>
                  <a:schemeClr val="tx1"/>
                </a:solidFill>
              </a:rPr>
              <a:t>GridSearchCV</a:t>
            </a:r>
            <a:r>
              <a:rPr lang="it-IT" dirty="0">
                <a:solidFill>
                  <a:schemeClr val="tx1"/>
                </a:solidFill>
              </a:rPr>
              <a:t>(), il set di </a:t>
            </a:r>
            <a:r>
              <a:rPr lang="it-IT" dirty="0" err="1">
                <a:solidFill>
                  <a:schemeClr val="tx1"/>
                </a:solidFill>
              </a:rPr>
              <a:t>train</a:t>
            </a:r>
            <a:r>
              <a:rPr lang="it-IT" dirty="0">
                <a:solidFill>
                  <a:schemeClr val="tx1"/>
                </a:solidFill>
              </a:rPr>
              <a:t> e le labels</a:t>
            </a:r>
          </a:p>
          <a:p>
            <a:pPr lvl="1"/>
            <a:r>
              <a:rPr lang="it-IT" dirty="0">
                <a:solidFill>
                  <a:schemeClr val="tx1"/>
                </a:solidFill>
              </a:rPr>
              <a:t>Uso della </a:t>
            </a:r>
            <a:r>
              <a:rPr lang="it-IT" dirty="0" err="1">
                <a:solidFill>
                  <a:schemeClr val="tx1"/>
                </a:solidFill>
              </a:rPr>
              <a:t>GridSearchCV</a:t>
            </a:r>
            <a:r>
              <a:rPr lang="it-IT" dirty="0">
                <a:solidFill>
                  <a:schemeClr val="tx1"/>
                </a:solidFill>
              </a:rPr>
              <a:t>():</a:t>
            </a:r>
          </a:p>
          <a:p>
            <a:pPr lvl="2"/>
            <a:r>
              <a:rPr lang="it-IT" dirty="0">
                <a:solidFill>
                  <a:schemeClr val="tx1"/>
                </a:solidFill>
              </a:rPr>
              <a:t>Per allenare il modello sui dati di </a:t>
            </a:r>
            <a:r>
              <a:rPr lang="it-IT" dirty="0" err="1">
                <a:solidFill>
                  <a:schemeClr val="tx1"/>
                </a:solidFill>
              </a:rPr>
              <a:t>train</a:t>
            </a:r>
            <a:r>
              <a:rPr lang="it-IT" dirty="0">
                <a:solidFill>
                  <a:schemeClr val="tx1"/>
                </a:solidFill>
              </a:rPr>
              <a:t> e per trovare, attraverso la scoring=‘</a:t>
            </a:r>
            <a:r>
              <a:rPr lang="it-IT" dirty="0" err="1">
                <a:solidFill>
                  <a:schemeClr val="tx1"/>
                </a:solidFill>
              </a:rPr>
              <a:t>accuracy</a:t>
            </a:r>
            <a:r>
              <a:rPr lang="it-IT" dirty="0">
                <a:solidFill>
                  <a:schemeClr val="tx1"/>
                </a:solidFill>
              </a:rPr>
              <a:t>’, la configurazione di parametri per il modello che permettono di avere la migliore </a:t>
            </a:r>
            <a:r>
              <a:rPr lang="it-IT" dirty="0" err="1">
                <a:solidFill>
                  <a:schemeClr val="tx1"/>
                </a:solidFill>
              </a:rPr>
              <a:t>accuracy</a:t>
            </a:r>
            <a:r>
              <a:rPr lang="it-IT" dirty="0">
                <a:solidFill>
                  <a:schemeClr val="tx1"/>
                </a:solidFill>
              </a:rPr>
              <a:t>.</a:t>
            </a:r>
          </a:p>
          <a:p>
            <a:pPr lvl="2"/>
            <a:r>
              <a:rPr lang="it-IT" dirty="0">
                <a:solidFill>
                  <a:schemeClr val="tx1"/>
                </a:solidFill>
              </a:rPr>
              <a:t>Si è lasciato il numero di </a:t>
            </a:r>
            <a:r>
              <a:rPr lang="it-IT" dirty="0" err="1">
                <a:solidFill>
                  <a:schemeClr val="tx1"/>
                </a:solidFill>
              </a:rPr>
              <a:t>fold</a:t>
            </a:r>
            <a:r>
              <a:rPr lang="it-IT" dirty="0">
                <a:solidFill>
                  <a:schemeClr val="tx1"/>
                </a:solidFill>
              </a:rPr>
              <a:t> alla configurazione di default della </a:t>
            </a:r>
            <a:r>
              <a:rPr lang="it-IT" dirty="0" err="1">
                <a:solidFill>
                  <a:schemeClr val="tx1"/>
                </a:solidFill>
              </a:rPr>
              <a:t>GridSearchCV</a:t>
            </a:r>
            <a:r>
              <a:rPr lang="it-IT" dirty="0">
                <a:solidFill>
                  <a:schemeClr val="tx1"/>
                </a:solidFill>
              </a:rPr>
              <a:t>() per la Cross Validation.</a:t>
            </a:r>
          </a:p>
          <a:p>
            <a:pPr lvl="1"/>
            <a:r>
              <a:rPr lang="it-IT" dirty="0">
                <a:solidFill>
                  <a:schemeClr val="tx1"/>
                </a:solidFill>
              </a:rPr>
              <a:t>Valori restituiti:</a:t>
            </a:r>
          </a:p>
          <a:p>
            <a:pPr lvl="2"/>
            <a:r>
              <a:rPr lang="it-IT" dirty="0">
                <a:solidFill>
                  <a:schemeClr val="tx1"/>
                </a:solidFill>
              </a:rPr>
              <a:t>La miglior configurazione del modello, la migliore </a:t>
            </a:r>
            <a:r>
              <a:rPr lang="it-IT" dirty="0" err="1">
                <a:solidFill>
                  <a:schemeClr val="tx1"/>
                </a:solidFill>
              </a:rPr>
              <a:t>accuracy</a:t>
            </a:r>
            <a:r>
              <a:rPr lang="it-IT" dirty="0">
                <a:solidFill>
                  <a:schemeClr val="tx1"/>
                </a:solidFill>
              </a:rPr>
              <a:t>, il modello allenato. </a:t>
            </a:r>
          </a:p>
          <a:p>
            <a:pPr lvl="2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42586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0826E1-CFDB-2D93-BDEA-4D46B42EE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Metodologie adottate</a:t>
            </a:r>
            <a:br>
              <a:rPr lang="it-IT" dirty="0"/>
            </a:br>
            <a:r>
              <a:rPr lang="it-IT" dirty="0"/>
              <a:t>model selection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E731E8-AF9D-DEE6-7EB2-45D82D44F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3764222"/>
          </a:xfrm>
        </p:spPr>
        <p:txBody>
          <a:bodyPr/>
          <a:lstStyle/>
          <a:p>
            <a:pPr algn="just"/>
            <a:r>
              <a:rPr lang="it-IT" dirty="0">
                <a:solidFill>
                  <a:schemeClr val="tx1"/>
                </a:solidFill>
              </a:rPr>
              <a:t>La scelta del modello è fatta in base alla </a:t>
            </a:r>
            <a:r>
              <a:rPr lang="it-IT" dirty="0" err="1">
                <a:solidFill>
                  <a:schemeClr val="tx1"/>
                </a:solidFill>
              </a:rPr>
              <a:t>accuracy</a:t>
            </a:r>
            <a:r>
              <a:rPr lang="it-IT" dirty="0">
                <a:solidFill>
                  <a:schemeClr val="tx1"/>
                </a:solidFill>
              </a:rPr>
              <a:t> ottenuta in cross validation.</a:t>
            </a:r>
          </a:p>
          <a:p>
            <a:pPr algn="just"/>
            <a:r>
              <a:rPr lang="it-IT" dirty="0">
                <a:solidFill>
                  <a:schemeClr val="tx1"/>
                </a:solidFill>
              </a:rPr>
              <a:t>Miglior prestazione in cross-</a:t>
            </a:r>
            <a:r>
              <a:rPr lang="it-IT" dirty="0" err="1">
                <a:solidFill>
                  <a:schemeClr val="tx1"/>
                </a:solidFill>
              </a:rPr>
              <a:t>validation</a:t>
            </a:r>
            <a:r>
              <a:rPr lang="it-IT" dirty="0">
                <a:solidFill>
                  <a:schemeClr val="tx1"/>
                </a:solidFill>
              </a:rPr>
              <a:t> per ogni modello:</a:t>
            </a:r>
          </a:p>
          <a:p>
            <a:pPr lvl="1" algn="just"/>
            <a:endParaRPr lang="it-IT" dirty="0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6370613A-645E-7BF3-1FE9-A17683247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726573"/>
              </p:ext>
            </p:extLst>
          </p:nvPr>
        </p:nvGraphicFramePr>
        <p:xfrm>
          <a:off x="677334" y="3429000"/>
          <a:ext cx="9280858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491">
                  <a:extLst>
                    <a:ext uri="{9D8B030D-6E8A-4147-A177-3AD203B41FA5}">
                      <a16:colId xmlns:a16="http://schemas.microsoft.com/office/drawing/2014/main" val="2850855798"/>
                    </a:ext>
                  </a:extLst>
                </a:gridCol>
                <a:gridCol w="1553227">
                  <a:extLst>
                    <a:ext uri="{9D8B030D-6E8A-4147-A177-3AD203B41FA5}">
                      <a16:colId xmlns:a16="http://schemas.microsoft.com/office/drawing/2014/main" val="3821508918"/>
                    </a:ext>
                  </a:extLst>
                </a:gridCol>
                <a:gridCol w="5361140">
                  <a:extLst>
                    <a:ext uri="{9D8B030D-6E8A-4147-A177-3AD203B41FA5}">
                      <a16:colId xmlns:a16="http://schemas.microsoft.com/office/drawing/2014/main" val="2169161314"/>
                    </a:ext>
                  </a:extLst>
                </a:gridCol>
              </a:tblGrid>
              <a:tr h="343839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Accuracy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Configurazione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083616"/>
                  </a:ext>
                </a:extLst>
              </a:tr>
              <a:tr h="343839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'</a:t>
                      </a:r>
                      <a:r>
                        <a:rPr lang="it-IT" sz="1600" b="1" dirty="0"/>
                        <a:t>C</a:t>
                      </a:r>
                      <a:r>
                        <a:rPr lang="it-IT" sz="1600" dirty="0"/>
                        <a:t>': 1.0, '</a:t>
                      </a:r>
                      <a:r>
                        <a:rPr lang="it-IT" sz="1600" b="1" dirty="0"/>
                        <a:t>kernel</a:t>
                      </a:r>
                      <a:r>
                        <a:rPr lang="it-IT" sz="1600" dirty="0"/>
                        <a:t>': '</a:t>
                      </a:r>
                      <a:r>
                        <a:rPr lang="it-IT" sz="1600" dirty="0" err="1"/>
                        <a:t>rbf</a:t>
                      </a:r>
                      <a:r>
                        <a:rPr lang="it-IT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720345"/>
                  </a:ext>
                </a:extLst>
              </a:tr>
              <a:tr h="343839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Logistic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Regression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‘</a:t>
                      </a:r>
                      <a:r>
                        <a:rPr lang="it-IT" sz="1600" b="1" dirty="0"/>
                        <a:t>C</a:t>
                      </a:r>
                      <a:r>
                        <a:rPr lang="it-IT" sz="1600" dirty="0"/>
                        <a:t>': 0.01, </a:t>
                      </a:r>
                      <a:r>
                        <a:rPr lang="it-IT" sz="1600" b="1" dirty="0"/>
                        <a:t>'</a:t>
                      </a:r>
                      <a:r>
                        <a:rPr lang="it-IT" sz="1600" b="1" dirty="0" err="1"/>
                        <a:t>max_iter</a:t>
                      </a:r>
                      <a:r>
                        <a:rPr lang="it-IT" sz="1600" dirty="0"/>
                        <a:t>': 1000, '</a:t>
                      </a:r>
                      <a:r>
                        <a:rPr lang="it-IT" sz="1600" b="1" dirty="0"/>
                        <a:t>solver</a:t>
                      </a:r>
                      <a:r>
                        <a:rPr lang="it-IT" sz="1600" dirty="0"/>
                        <a:t>': '</a:t>
                      </a:r>
                      <a:r>
                        <a:rPr lang="it-IT" sz="1600" dirty="0" err="1"/>
                        <a:t>lbfgs</a:t>
                      </a:r>
                      <a:r>
                        <a:rPr lang="it-IT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309355"/>
                  </a:ext>
                </a:extLst>
              </a:tr>
              <a:tr h="343839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0,37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'</a:t>
                      </a:r>
                      <a:r>
                        <a:rPr lang="it-IT" sz="1600" b="1" dirty="0" err="1"/>
                        <a:t>metric</a:t>
                      </a:r>
                      <a:r>
                        <a:rPr lang="it-IT" sz="1600" dirty="0"/>
                        <a:t>': 'cosine', '</a:t>
                      </a:r>
                      <a:r>
                        <a:rPr lang="it-IT" sz="1600" b="1" dirty="0" err="1"/>
                        <a:t>n_neighbors</a:t>
                      </a:r>
                      <a:r>
                        <a:rPr lang="it-IT" sz="1600" dirty="0"/>
                        <a:t>': 7, '</a:t>
                      </a:r>
                      <a:r>
                        <a:rPr lang="it-IT" sz="1600" b="1" dirty="0"/>
                        <a:t>weights</a:t>
                      </a:r>
                      <a:r>
                        <a:rPr lang="it-IT" sz="1600" dirty="0"/>
                        <a:t>': '</a:t>
                      </a:r>
                      <a:r>
                        <a:rPr lang="it-IT" sz="1600" dirty="0" err="1"/>
                        <a:t>distance</a:t>
                      </a:r>
                      <a:r>
                        <a:rPr lang="it-IT" sz="1600" dirty="0"/>
                        <a:t>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741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Decision</a:t>
                      </a:r>
                      <a:r>
                        <a:rPr lang="it-IT" dirty="0"/>
                        <a:t>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/>
                        <a:t>'</a:t>
                      </a:r>
                      <a:r>
                        <a:rPr lang="it-IT" sz="1600" b="1" dirty="0" err="1"/>
                        <a:t>criterion</a:t>
                      </a:r>
                      <a:r>
                        <a:rPr lang="it-IT" sz="1600" dirty="0"/>
                        <a:t>': '</a:t>
                      </a:r>
                      <a:r>
                        <a:rPr lang="it-IT" sz="1600" dirty="0" err="1"/>
                        <a:t>entropy</a:t>
                      </a:r>
                      <a:r>
                        <a:rPr lang="it-IT" sz="1600" dirty="0"/>
                        <a:t>', '</a:t>
                      </a:r>
                      <a:r>
                        <a:rPr lang="it-IT" sz="1600" b="1" dirty="0" err="1"/>
                        <a:t>max_depth</a:t>
                      </a:r>
                      <a:r>
                        <a:rPr lang="it-IT" sz="1600" dirty="0"/>
                        <a:t>': 7, </a:t>
                      </a:r>
                      <a:r>
                        <a:rPr lang="it-IT" sz="1600" b="1" dirty="0"/>
                        <a:t>'</a:t>
                      </a:r>
                      <a:r>
                        <a:rPr lang="it-IT" sz="1600" b="1" dirty="0" err="1"/>
                        <a:t>min_samples_leaf</a:t>
                      </a:r>
                      <a:r>
                        <a:rPr lang="it-IT" sz="1600" dirty="0"/>
                        <a:t>': 2, </a:t>
                      </a:r>
                      <a:r>
                        <a:rPr lang="it-IT" sz="1600" b="1" dirty="0"/>
                        <a:t>'</a:t>
                      </a:r>
                      <a:r>
                        <a:rPr lang="it-IT" sz="1600" b="1" dirty="0" err="1"/>
                        <a:t>min_samples_split</a:t>
                      </a:r>
                      <a:r>
                        <a:rPr lang="it-IT" sz="1600" dirty="0"/>
                        <a:t>':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361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144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A0E52E-7648-9367-C7D7-FE8004F4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Prestazioni in test 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DEC004-7E57-5A78-7877-399201E91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/>
          <a:lstStyle/>
          <a:p>
            <a:r>
              <a:rPr lang="it-IT" dirty="0">
                <a:solidFill>
                  <a:schemeClr val="tx1"/>
                </a:solidFill>
              </a:rPr>
              <a:t>La miglior configurazione in cross-</a:t>
            </a:r>
            <a:r>
              <a:rPr lang="it-IT" dirty="0" err="1">
                <a:solidFill>
                  <a:schemeClr val="tx1"/>
                </a:solidFill>
              </a:rPr>
              <a:t>validation</a:t>
            </a:r>
            <a:r>
              <a:rPr lang="it-IT" dirty="0">
                <a:solidFill>
                  <a:schemeClr val="tx1"/>
                </a:solidFill>
              </a:rPr>
              <a:t> è stata ottenuta dal modello SVM, le sue prestazioni in test set (2000 campioni) sono qui sotto riassunte:</a:t>
            </a:r>
          </a:p>
          <a:p>
            <a:pPr lvl="1"/>
            <a:r>
              <a:rPr lang="it-IT" b="1" dirty="0" err="1">
                <a:solidFill>
                  <a:schemeClr val="tx1"/>
                </a:solidFill>
              </a:rPr>
              <a:t>Accuracy</a:t>
            </a:r>
            <a:r>
              <a:rPr lang="it-IT" b="1" dirty="0">
                <a:solidFill>
                  <a:schemeClr val="tx1"/>
                </a:solidFill>
              </a:rPr>
              <a:t>: </a:t>
            </a:r>
            <a:r>
              <a:rPr lang="it-IT" dirty="0">
                <a:solidFill>
                  <a:schemeClr val="tx1"/>
                </a:solidFill>
              </a:rPr>
              <a:t>0,48</a:t>
            </a:r>
          </a:p>
          <a:p>
            <a:pPr lvl="1"/>
            <a:r>
              <a:rPr lang="it-IT" b="1" dirty="0">
                <a:solidFill>
                  <a:schemeClr val="tx1"/>
                </a:solidFill>
              </a:rPr>
              <a:t>Precision: </a:t>
            </a:r>
            <a:r>
              <a:rPr lang="it-IT" dirty="0">
                <a:solidFill>
                  <a:schemeClr val="tx1"/>
                </a:solidFill>
              </a:rPr>
              <a:t>0,48</a:t>
            </a:r>
          </a:p>
          <a:p>
            <a:pPr lvl="1"/>
            <a:r>
              <a:rPr lang="it-IT" b="1" dirty="0">
                <a:solidFill>
                  <a:schemeClr val="tx1"/>
                </a:solidFill>
              </a:rPr>
              <a:t>Recall: </a:t>
            </a:r>
            <a:r>
              <a:rPr lang="it-IT" dirty="0">
                <a:solidFill>
                  <a:schemeClr val="tx1"/>
                </a:solidFill>
              </a:rPr>
              <a:t>0,48</a:t>
            </a:r>
          </a:p>
          <a:p>
            <a:pPr lvl="1"/>
            <a:r>
              <a:rPr lang="it-IT" b="1" dirty="0">
                <a:solidFill>
                  <a:schemeClr val="tx1"/>
                </a:solidFill>
              </a:rPr>
              <a:t>F1 score: </a:t>
            </a:r>
            <a:r>
              <a:rPr lang="it-IT" dirty="0">
                <a:solidFill>
                  <a:schemeClr val="tx1"/>
                </a:solidFill>
              </a:rPr>
              <a:t>0,48</a:t>
            </a:r>
          </a:p>
          <a:p>
            <a:pPr lvl="1"/>
            <a:r>
              <a:rPr lang="it-IT" dirty="0">
                <a:solidFill>
                  <a:schemeClr val="tx1"/>
                </a:solidFill>
              </a:rPr>
              <a:t>Le classi maggiormente</a:t>
            </a:r>
            <a:br>
              <a:rPr lang="it-IT" dirty="0">
                <a:solidFill>
                  <a:schemeClr val="tx1"/>
                </a:solidFill>
              </a:rPr>
            </a:br>
            <a:r>
              <a:rPr lang="it-IT" dirty="0">
                <a:solidFill>
                  <a:schemeClr val="tx1"/>
                </a:solidFill>
              </a:rPr>
              <a:t>azzeccate: 1, 6, 8</a:t>
            </a:r>
          </a:p>
          <a:p>
            <a:pPr lvl="1"/>
            <a:r>
              <a:rPr lang="it-IT" dirty="0">
                <a:solidFill>
                  <a:schemeClr val="tx1"/>
                </a:solidFill>
              </a:rPr>
              <a:t>Le classi maggiormente</a:t>
            </a:r>
            <a:br>
              <a:rPr lang="it-IT" dirty="0">
                <a:solidFill>
                  <a:schemeClr val="tx1"/>
                </a:solidFill>
              </a:rPr>
            </a:br>
            <a:r>
              <a:rPr lang="it-IT" dirty="0">
                <a:solidFill>
                  <a:schemeClr val="tx1"/>
                </a:solidFill>
              </a:rPr>
              <a:t>sbagliate: 2, 3</a:t>
            </a:r>
          </a:p>
          <a:p>
            <a:pPr marL="457200" lvl="1" indent="0">
              <a:buNone/>
            </a:pPr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BD3D0DD-A3C0-C06E-71F6-9A5285618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312" y="2775692"/>
            <a:ext cx="4271375" cy="363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8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F2D61D8-73D2-CCA8-B1E2-1F49C0CD2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202" y="1930400"/>
            <a:ext cx="4114800" cy="30607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62849EA-BDC7-DD70-FB97-BB6CA8401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Prestazioni in test set</a:t>
            </a:r>
            <a:br>
              <a:rPr lang="it-IT" dirty="0"/>
            </a:br>
            <a:r>
              <a:rPr lang="it-IT" dirty="0"/>
              <a:t>classification report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68F793-0256-A58E-5513-E6B0B1BAA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930400"/>
            <a:ext cx="4367277" cy="4110961"/>
          </a:xfrm>
        </p:spPr>
        <p:txBody>
          <a:bodyPr>
            <a:normAutofit/>
          </a:bodyPr>
          <a:lstStyle/>
          <a:p>
            <a:pPr algn="just"/>
            <a:r>
              <a:rPr lang="it-IT" sz="1600" dirty="0">
                <a:solidFill>
                  <a:schemeClr val="tx1"/>
                </a:solidFill>
              </a:rPr>
              <a:t>Le </a:t>
            </a:r>
            <a:r>
              <a:rPr lang="it-IT" sz="1600" b="1" dirty="0">
                <a:solidFill>
                  <a:schemeClr val="tx1"/>
                </a:solidFill>
              </a:rPr>
              <a:t>migliori prestazioni</a:t>
            </a:r>
            <a:r>
              <a:rPr lang="it-IT" sz="1600" dirty="0">
                <a:solidFill>
                  <a:schemeClr val="tx1"/>
                </a:solidFill>
              </a:rPr>
              <a:t> sono state ottenute per le classi </a:t>
            </a:r>
            <a:r>
              <a:rPr lang="it-IT" sz="1600" b="1" dirty="0">
                <a:solidFill>
                  <a:schemeClr val="tx1"/>
                </a:solidFill>
              </a:rPr>
              <a:t>1 e 8</a:t>
            </a:r>
            <a:r>
              <a:rPr lang="it-IT" sz="1600" dirty="0">
                <a:solidFill>
                  <a:schemeClr val="tx1"/>
                </a:solidFill>
              </a:rPr>
              <a:t> (</a:t>
            </a:r>
            <a:r>
              <a:rPr lang="it-IT" sz="1600" i="1" dirty="0">
                <a:solidFill>
                  <a:schemeClr val="tx1"/>
                </a:solidFill>
              </a:rPr>
              <a:t>automobili e navi</a:t>
            </a:r>
            <a:r>
              <a:rPr lang="it-IT" sz="1600" dirty="0">
                <a:solidFill>
                  <a:schemeClr val="tx1"/>
                </a:solidFill>
              </a:rPr>
              <a:t>), con risultati </a:t>
            </a:r>
            <a:r>
              <a:rPr lang="it-IT" sz="1600" b="1" dirty="0">
                <a:solidFill>
                  <a:schemeClr val="tx1"/>
                </a:solidFill>
              </a:rPr>
              <a:t>superiori al 58%</a:t>
            </a:r>
            <a:r>
              <a:rPr lang="it-IT" sz="1600" dirty="0">
                <a:solidFill>
                  <a:schemeClr val="tx1"/>
                </a:solidFill>
              </a:rPr>
              <a:t>.</a:t>
            </a:r>
            <a:br>
              <a:rPr lang="it-IT" sz="1600" dirty="0">
                <a:solidFill>
                  <a:schemeClr val="tx1"/>
                </a:solidFill>
              </a:rPr>
            </a:br>
            <a:r>
              <a:rPr lang="it-IT" sz="1600" dirty="0">
                <a:solidFill>
                  <a:schemeClr val="tx1"/>
                </a:solidFill>
              </a:rPr>
              <a:t>Rispetto a quanto visto prima c’è un </a:t>
            </a:r>
            <a:r>
              <a:rPr lang="it-IT" sz="1600" b="1" dirty="0">
                <a:solidFill>
                  <a:schemeClr val="tx1"/>
                </a:solidFill>
              </a:rPr>
              <a:t>leggero</a:t>
            </a:r>
            <a:r>
              <a:rPr lang="it-IT" sz="1600" dirty="0">
                <a:solidFill>
                  <a:schemeClr val="tx1"/>
                </a:solidFill>
              </a:rPr>
              <a:t> </a:t>
            </a:r>
            <a:r>
              <a:rPr lang="it-IT" sz="1600" b="1" dirty="0">
                <a:solidFill>
                  <a:schemeClr val="tx1"/>
                </a:solidFill>
              </a:rPr>
              <a:t>ridimensionamento su la classe 6</a:t>
            </a:r>
            <a:r>
              <a:rPr lang="it-IT" sz="1600" dirty="0">
                <a:solidFill>
                  <a:schemeClr val="tx1"/>
                </a:solidFill>
              </a:rPr>
              <a:t>, penalizzata da un </a:t>
            </a:r>
            <a:r>
              <a:rPr lang="it-IT" sz="1600" b="1" dirty="0">
                <a:solidFill>
                  <a:schemeClr val="tx1"/>
                </a:solidFill>
              </a:rPr>
              <a:t>valore basso di </a:t>
            </a:r>
            <a:r>
              <a:rPr lang="it-IT" sz="1600" b="1" dirty="0" err="1">
                <a:solidFill>
                  <a:schemeClr val="tx1"/>
                </a:solidFill>
              </a:rPr>
              <a:t>precision</a:t>
            </a:r>
            <a:r>
              <a:rPr lang="it-IT" sz="1600" dirty="0">
                <a:solidFill>
                  <a:schemeClr val="tx1"/>
                </a:solidFill>
              </a:rPr>
              <a:t>. </a:t>
            </a:r>
          </a:p>
          <a:p>
            <a:pPr algn="just"/>
            <a:r>
              <a:rPr lang="it-IT" sz="1600" dirty="0">
                <a:solidFill>
                  <a:schemeClr val="tx1"/>
                </a:solidFill>
              </a:rPr>
              <a:t>Si osservano invece </a:t>
            </a:r>
            <a:r>
              <a:rPr lang="it-IT" sz="1600" b="1" dirty="0">
                <a:solidFill>
                  <a:schemeClr val="tx1"/>
                </a:solidFill>
              </a:rPr>
              <a:t>scarse prestazioni</a:t>
            </a:r>
            <a:r>
              <a:rPr lang="it-IT" sz="1600" dirty="0">
                <a:solidFill>
                  <a:schemeClr val="tx1"/>
                </a:solidFill>
              </a:rPr>
              <a:t> nel riconoscimento delle classi </a:t>
            </a:r>
            <a:r>
              <a:rPr lang="it-IT" sz="1600" b="1" dirty="0">
                <a:solidFill>
                  <a:schemeClr val="tx1"/>
                </a:solidFill>
              </a:rPr>
              <a:t>2, 3 e 4</a:t>
            </a:r>
            <a:r>
              <a:rPr lang="it-IT" sz="1600" dirty="0">
                <a:solidFill>
                  <a:schemeClr val="tx1"/>
                </a:solidFill>
              </a:rPr>
              <a:t> (</a:t>
            </a:r>
            <a:r>
              <a:rPr lang="it-IT" sz="1600" i="1" dirty="0">
                <a:solidFill>
                  <a:schemeClr val="tx1"/>
                </a:solidFill>
              </a:rPr>
              <a:t>uccelli, gatti, cervi</a:t>
            </a:r>
            <a:r>
              <a:rPr lang="it-IT" sz="1600" dirty="0">
                <a:solidFill>
                  <a:schemeClr val="tx1"/>
                </a:solidFill>
              </a:rPr>
              <a:t>), con risultati intorno al </a:t>
            </a:r>
            <a:r>
              <a:rPr lang="it-IT" sz="1600" b="1" dirty="0">
                <a:solidFill>
                  <a:schemeClr val="tx1"/>
                </a:solidFill>
              </a:rPr>
              <a:t>30-36%</a:t>
            </a:r>
            <a:r>
              <a:rPr lang="it-IT" sz="1600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it-IT" sz="1600" dirty="0">
                <a:solidFill>
                  <a:schemeClr val="tx1"/>
                </a:solidFill>
              </a:rPr>
              <a:t>Nel complesso, le performance del modello si attestano su una </a:t>
            </a:r>
            <a:r>
              <a:rPr lang="it-IT" sz="1600" b="1" dirty="0">
                <a:solidFill>
                  <a:schemeClr val="tx1"/>
                </a:solidFill>
              </a:rPr>
              <a:t>media del 47–48%</a:t>
            </a:r>
            <a:r>
              <a:rPr lang="it-IT" sz="1600" dirty="0">
                <a:solidFill>
                  <a:schemeClr val="tx1"/>
                </a:solidFill>
              </a:rPr>
              <a:t>, in linea con quanto ottenuto in </a:t>
            </a:r>
            <a:r>
              <a:rPr lang="it-IT" sz="1600" b="1" dirty="0">
                <a:solidFill>
                  <a:schemeClr val="tx1"/>
                </a:solidFill>
              </a:rPr>
              <a:t>cross-</a:t>
            </a:r>
            <a:r>
              <a:rPr lang="it-IT" sz="1600" b="1" dirty="0" err="1">
                <a:solidFill>
                  <a:schemeClr val="tx1"/>
                </a:solidFill>
              </a:rPr>
              <a:t>validation</a:t>
            </a:r>
            <a:r>
              <a:rPr lang="it-IT" sz="1600" dirty="0">
                <a:solidFill>
                  <a:schemeClr val="tx1"/>
                </a:solidFill>
              </a:rPr>
              <a:t>.</a:t>
            </a:r>
          </a:p>
          <a:p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595616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25B67B-9545-5695-DD19-6C6FD553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Prestazioni in test set</a:t>
            </a:r>
            <a:br>
              <a:rPr lang="it-IT" dirty="0"/>
            </a:br>
            <a:r>
              <a:rPr lang="it-IT" dirty="0"/>
              <a:t>senza shuffle vs con shuffle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120E738-98EA-9EDD-4F72-CF5A03809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278" y="4155136"/>
            <a:ext cx="2677735" cy="228103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D8E41EF-9A8F-C577-A00A-CD414BAD8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045494"/>
            <a:ext cx="2677735" cy="199177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0090B165-837D-36A2-7ED8-E07561686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903" y="4157912"/>
            <a:ext cx="2677735" cy="227548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AD618B5-66C7-2B45-CD5F-72157DFC1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39" y="1930400"/>
            <a:ext cx="2677735" cy="1968855"/>
          </a:xfrm>
          <a:prstGeom prst="rect">
            <a:avLst/>
          </a:prstGeom>
        </p:spPr>
      </p:pic>
      <p:sp>
        <p:nvSpPr>
          <p:cNvPr id="11" name="Freccia destra 10">
            <a:extLst>
              <a:ext uri="{FF2B5EF4-FFF2-40B4-BE49-F238E27FC236}">
                <a16:creationId xmlns:a16="http://schemas.microsoft.com/office/drawing/2014/main" id="{8CB1E757-19B9-00ED-13DA-22DE818B64CD}"/>
              </a:ext>
            </a:extLst>
          </p:cNvPr>
          <p:cNvSpPr/>
          <p:nvPr/>
        </p:nvSpPr>
        <p:spPr>
          <a:xfrm>
            <a:off x="3986498" y="2601677"/>
            <a:ext cx="1240077" cy="3131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Freccia destra 11">
            <a:extLst>
              <a:ext uri="{FF2B5EF4-FFF2-40B4-BE49-F238E27FC236}">
                <a16:creationId xmlns:a16="http://schemas.microsoft.com/office/drawing/2014/main" id="{82E91833-3050-6ED2-6E5C-A5067F3C44DA}"/>
              </a:ext>
            </a:extLst>
          </p:cNvPr>
          <p:cNvSpPr/>
          <p:nvPr/>
        </p:nvSpPr>
        <p:spPr>
          <a:xfrm>
            <a:off x="4196219" y="4634630"/>
            <a:ext cx="779449" cy="2505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3707722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Sfaccettatura</Template>
  <TotalTime>1396</TotalTime>
  <Words>762</Words>
  <Application>Microsoft Macintosh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Sfaccettatura</vt:lpstr>
      <vt:lpstr>Cifar-10 </vt:lpstr>
      <vt:lpstr>Descrizione del dataset</vt:lpstr>
      <vt:lpstr>Le labels</vt:lpstr>
      <vt:lpstr>Metodologie adottate  caricamento dataset</vt:lpstr>
      <vt:lpstr>Metodologie adottate shuffle, riduzione e standardizzazione</vt:lpstr>
      <vt:lpstr>Metodologie adottate funzione di allenamento modelli </vt:lpstr>
      <vt:lpstr>Metodologie adottate model selection</vt:lpstr>
      <vt:lpstr>Prestazioni in test set</vt:lpstr>
      <vt:lpstr>Prestazioni in test set classification report</vt:lpstr>
      <vt:lpstr>Prestazioni in test set senza shuffle vs con shuffle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MANISCALCO</dc:creator>
  <cp:lastModifiedBy>FRANCESCO MANISCALCO</cp:lastModifiedBy>
  <cp:revision>8</cp:revision>
  <dcterms:created xsi:type="dcterms:W3CDTF">2025-05-02T08:33:25Z</dcterms:created>
  <dcterms:modified xsi:type="dcterms:W3CDTF">2025-05-03T14:33:22Z</dcterms:modified>
</cp:coreProperties>
</file>